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3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3.png"/><Relationship Id="rId7" Type="http://schemas.openxmlformats.org/officeDocument/2006/relationships/image" Target="../media/image54.png"/><Relationship Id="rId8" Type="http://schemas.openxmlformats.org/officeDocument/2006/relationships/image" Target="../media/image55.png"/><Relationship Id="rId9" Type="http://schemas.openxmlformats.org/officeDocument/2006/relationships/image" Target="../media/image5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4192339"/>
            <a:ext cx="84582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3300" y="342900"/>
            <a:ext cx="542925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862" y="2055911"/>
            <a:ext cx="3724275" cy="3190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30604" y="2565499"/>
            <a:ext cx="6330791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0" sz="3900" i="0" u="none">
                <a:solidFill>
                  <a:srgbClr val="F8FAFC"/>
                </a:solidFill>
                <a:latin typeface="Poppins SemiBold"/>
              </a:rPr>
              <a:t>Dani-ETH: Motor Runner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0750" y="3287464"/>
            <a:ext cx="7810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 Light"/>
              </a:rPr>
              <a:t>Automatización de Ethical Hacking, Orquestación de Vulnerabilidades y Ejecución Asíncrona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1225" y="4354264"/>
            <a:ext cx="19621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Lato"/>
              </a:rPr>
              <a:t>INSTITUCIÓN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81225" y="4478089"/>
            <a:ext cx="19621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Lato SemiBold"/>
              </a:rPr>
              <a:t>Duoc UC · Escuela de Informática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4375" y="4354264"/>
            <a:ext cx="12096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Lato"/>
              </a:rPr>
              <a:t>EMPRESA MANDANTE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4375" y="4478089"/>
            <a:ext cx="12096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Lato SemiBold"/>
              </a:rPr>
              <a:t>Alloxentric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15050" y="4354264"/>
            <a:ext cx="1971675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Lato"/>
              </a:rPr>
              <a:t>EQUIPO DE DESARROLLO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5050" y="4478089"/>
            <a:ext cx="19716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Lato SemiBold"/>
              </a:rPr>
              <a:t>L. Orellana · L. Arcos · S. Carrasco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4354264"/>
            <a:ext cx="1543050" cy="123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825" i="0" u="none">
                <a:solidFill>
                  <a:srgbClr val="64748B"/>
                </a:solidFill>
                <a:latin typeface="Lato"/>
              </a:rPr>
              <a:t>MODALIDAD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7725" y="4478089"/>
            <a:ext cx="15430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E2E8F0"/>
                </a:solidFill>
                <a:latin typeface="Lato SemiBold"/>
              </a:rPr>
              <a:t>Continuidad (12 Semanas)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09875"/>
            <a:ext cx="5395912" cy="2095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809875"/>
            <a:ext cx="5395912" cy="209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3300" y="342900"/>
            <a:ext cx="542925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47687"/>
            <a:ext cx="2667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5375" y="3086100"/>
            <a:ext cx="478559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oppins SemiBold"/>
              </a:rPr>
              <a:t>El Desafío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486150"/>
            <a:ext cx="4843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Las pruebas de penetración (pentesting) tradicionales son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esporádicas, costosas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y altamente dependientes de especialistas humanos escasos en el mercado.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4171950"/>
            <a:ext cx="48434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Esto genera ventanas prolongadas de vulnerabilidad que los atacantes pueden explotar antes de que un equipo detecte las brechas.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4662" y="3086100"/>
            <a:ext cx="478559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oppins SemiBold"/>
              </a:rPr>
              <a:t>La Solución Dani-ETH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8912" y="3486150"/>
            <a:ext cx="48434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Vigilancia continua y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democratización del pentesting ético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mediante automatización inteligente en la infraestructura de Alloxentric.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3943350"/>
            <a:ext cx="4843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Actúa como un guardián de integridad operacional: detecta riesgos en tiempo real, prioriza criticidades y dispara alertas o protocolos de mitigación.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133725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912" y="3133725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438150"/>
            <a:ext cx="112776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Contexto y Necesidad de Negocio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1075" y="819150"/>
            <a:ext cx="5170646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Arquitectura en 2 Grupos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419225"/>
            <a:ext cx="53721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9525"/>
            <a:ext cx="5895975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00025"/>
            <a:ext cx="542925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928687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2909887"/>
            <a:ext cx="5372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CBD5E1"/>
                </a:solidFill>
                <a:latin typeface="Lato"/>
              </a:rPr>
              <a:t>División Estratégica del Trabajo: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El proyecto se orquesta entre dos equipos sincronizados mediante APIs y contratos JSON: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500437"/>
            <a:ext cx="5372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CBD5E1"/>
                </a:solidFill>
                <a:latin typeface="Lato"/>
              </a:rPr>
              <a:t>1. Equipo Frontend &amp; IA: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Desarrollan la interfaz gráfica (React 18), generan las instrucciones en JSON y operan el motor cognitivo que redacta el reporte ejecutivo final.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319587"/>
            <a:ext cx="5372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125" i="0" u="none">
                <a:solidFill>
                  <a:srgbClr val="CBD5E1"/>
                </a:solidFill>
                <a:latin typeface="Lato"/>
              </a:rPr>
              <a:t>2. Nuestro Equipo (El Runner Backend):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Recibe los esquemas JSON, orquesta las herramientas de seguridad en contenedores Docker y devuelve los resultados consolidados.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71787"/>
            <a:ext cx="358140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871787"/>
            <a:ext cx="3581400" cy="1971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871787"/>
            <a:ext cx="3581400" cy="1971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342900"/>
            <a:ext cx="542925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47687"/>
            <a:ext cx="333375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2475" y="3643312"/>
            <a:ext cx="330041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1F5F9"/>
                </a:solidFill>
                <a:latin typeface="Poppins SemiBold"/>
              </a:rPr>
              <a:t>1. Ingesta de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3995737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Recepción de peticiones estructuradas con objetivos (targets), tipo de escaneo, parámetros específicos y niveles de agresividad configurados.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4375" y="3643312"/>
            <a:ext cx="330041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1F5F9"/>
                </a:solidFill>
                <a:latin typeface="Poppins SemiBold"/>
              </a:rPr>
              <a:t>2. Ejecución Asíncrona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4375" y="3995737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Lanzamiento automatizado de herramientas nativas de seguridad (Nmap, SQLMap, Nuclei, XSStrike) aisladas en colas RabbitMQ/Celery.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6275" y="3643312"/>
            <a:ext cx="330041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1F5F9"/>
                </a:solidFill>
                <a:latin typeface="Poppins SemiBold"/>
              </a:rPr>
              <a:t>3. Salida Estandarizada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6275" y="3995737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Parseo del output crudo hacia un JSON uniforme con risk scores, hallazgos y evidencias, listo para el procesamiento de la IA.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157537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4375" y="3157537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3157537"/>
            <a:ext cx="3429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1075" y="438150"/>
            <a:ext cx="1121092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El Núcleo Técnico: Módulo Runner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924175"/>
            <a:ext cx="5395912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924175"/>
            <a:ext cx="5395912" cy="1866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3300" y="342900"/>
            <a:ext cx="542925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47687"/>
            <a:ext cx="3048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5375" y="3200400"/>
            <a:ext cx="4785598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oppins SemiBold"/>
              </a:rPr>
              <a:t>Infraestructura &amp; 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600450"/>
            <a:ext cx="4843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Core: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Python (FastAPI) / Node.js Express con Docker.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29050"/>
            <a:ext cx="4843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Base de Datos: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PostgreSQL 15 (Persistencia relacional).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057650"/>
            <a:ext cx="4843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Caché &amp; Rate Limiting: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Redis (Blacklists JWT y sesiones).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286250"/>
            <a:ext cx="4843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Colas Asíncronas: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RabbitMQ / Celery para jobs pesados.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3237" y="3200400"/>
            <a:ext cx="475559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oppins SemiBold"/>
              </a:rPr>
              <a:t>Suite de Seguridad Integrada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8912" y="3600450"/>
            <a:ext cx="4843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Nmap: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Reconocimiento de red, puertos y servicios.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8912" y="3829050"/>
            <a:ext cx="4843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Nuclei: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Escaneos basados en plantillas de vulnerabilidad.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8912" y="4057650"/>
            <a:ext cx="4843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SQLMap &amp; XSStrike: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Inyecciones SQL y ataques Cross-Site Scripting.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8912" y="4286250"/>
            <a:ext cx="4843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Arjun &amp; JWT_Tool: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Detección de parámetros y fallos de tokens.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248025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912" y="3248025"/>
            <a:ext cx="21907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2500" y="438150"/>
            <a:ext cx="112395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Stack Tecnológico &amp; Seguridad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871787"/>
            <a:ext cx="3581400" cy="1971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2871787"/>
            <a:ext cx="3581400" cy="19716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871787"/>
            <a:ext cx="3581400" cy="19716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342900"/>
            <a:ext cx="542925" cy="361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47687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2475" y="3643312"/>
            <a:ext cx="330041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1F5F9"/>
                </a:solidFill>
                <a:latin typeface="Poppins SemiBold"/>
              </a:rPr>
              <a:t>Resource Pack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3995737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No se parte desde cero. Se cuenta con código base, esquemas de contenedores iniciales y backlog documentado para acelerar la puesta en marcha.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4375" y="3643312"/>
            <a:ext cx="330041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1F5F9"/>
                </a:solidFill>
                <a:latin typeface="Poppins SemiBold"/>
              </a:rPr>
              <a:t>Migración de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4375" y="3995737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94A3B8"/>
                </a:solidFill>
                <a:latin typeface="Lato"/>
              </a:rPr>
              <a:t>Reto principal:</a:t>
            </a:r>
            <a:r>
              <a:rPr b="0" sz="1050" i="0" u="none">
                <a:solidFill>
                  <a:srgbClr val="94A3B8"/>
                </a:solidFill>
                <a:latin typeface="Lato"/>
              </a:rPr>
              <a:t> La versión previa operaba en rutas locales (localhost). Se refactoriza para operar por nombres de dominio y variables de entorno (.env).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6275" y="3643312"/>
            <a:ext cx="330041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1F5F9"/>
                </a:solidFill>
                <a:latin typeface="Poppins SemiBold"/>
              </a:rPr>
              <a:t>Contrato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6275" y="3995737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Lato"/>
              </a:rPr>
              <a:t>Estrategia </a:t>
            </a:r>
            <a:r>
              <a:rPr b="0" sz="1050" i="1" u="none">
                <a:solidFill>
                  <a:srgbClr val="94A3B8"/>
                </a:solidFill>
                <a:latin typeface="Lato"/>
              </a:rPr>
              <a:t>API-First</a:t>
            </a:r>
            <a:r>
              <a:rPr b="0" sz="1050" i="0" u="none">
                <a:solidFill>
                  <a:srgbClr val="94A3B8"/>
                </a:solidFill>
                <a:latin typeface="Lato"/>
              </a:rPr>
              <a:t>: Acordar esquemas de request/response JSON con el otro grupo antes de codificar previene bloqueos mutuos.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3157537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4375" y="3157537"/>
            <a:ext cx="3810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6275" y="3157537"/>
            <a:ext cx="3810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438150"/>
            <a:ext cx="112776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Factibilidad y Reto de Continuidad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3300" y="342900"/>
            <a:ext cx="542925" cy="361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47687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76425" y="2726531"/>
            <a:ext cx="8743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8FAFC"/>
                </a:solidFill>
                <a:latin typeface="Lato"/>
              </a:rPr>
              <a:t>Objetivo General: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Desarrollar y refactorizar el backend y motor de ejecución (Runner) para Dani-ETH, garantizando autenticación segura, ejecución asíncrona de herramientas de seguridad y reportes JSON en 12 semanas.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6425" y="3307556"/>
            <a:ext cx="87439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8FAFC"/>
                </a:solidFill>
                <a:latin typeface="Lato"/>
              </a:rPr>
              <a:t>OE 1 - Infraestructura &amp; Auth: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Configurar el backend con autenticación JWT, rotación de tokens, rate limiting en Redis y persistencia en PostgreSQL 15.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6425" y="3888581"/>
            <a:ext cx="87439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8FAFC"/>
                </a:solidFill>
                <a:latin typeface="Lato"/>
              </a:rPr>
              <a:t>OE 2 - Contratos de Integración: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Formalizar y versionar los esquemas JSON de entrada y salida junto al equipo de Frontend/IA.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6425" y="4255293"/>
            <a:ext cx="87439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8FAFC"/>
                </a:solidFill>
                <a:latin typeface="Lato"/>
              </a:rPr>
              <a:t>OE 3 - Motor de Pentesting: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Automatizar las herramientas CLI (Nmap, Nuclei, SQLMap, XSStrike) mediante tareas en background.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6425" y="4622006"/>
            <a:ext cx="874395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8FAFC"/>
                </a:solidFill>
                <a:latin typeface="Lato"/>
              </a:rPr>
              <a:t>OE 4 - Calidad y DoD: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Alcanzar cobertura de pruebas unitarias y de integración superior al 80% con revisión por pares obligatoria.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2750343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3331368"/>
            <a:ext cx="15240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3912393"/>
            <a:ext cx="15240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4279106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1625" y="4645818"/>
            <a:ext cx="152400" cy="1809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438150"/>
            <a:ext cx="112776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Objetivos del Proyecto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924175"/>
            <a:ext cx="5395912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3300" y="342900"/>
            <a:ext cx="542925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47687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8675" y="3219450"/>
            <a:ext cx="4805362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38BDF8"/>
                </a:solidFill>
                <a:latin typeface="Poppins"/>
              </a:rPr>
              <a:t>&gt;80%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4076700"/>
            <a:ext cx="4805362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F8FAFC"/>
                </a:solidFill>
                <a:latin typeface="Lato SemiBold"/>
              </a:rPr>
              <a:t>Cobertura de Pruebas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75" y="4343400"/>
            <a:ext cx="48053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Lato"/>
              </a:rPr>
              <a:t>Requisito mandatorio para cada Story Ticket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7487" y="2802731"/>
            <a:ext cx="509111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8FAFC"/>
                </a:solidFill>
                <a:latin typeface="Lato"/>
              </a:rPr>
              <a:t>Revisión por Pares (Peer Review):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Ningún pull request entra a main sin aprobación cruzada de código.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7487" y="3383756"/>
            <a:ext cx="5091112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8FAFC"/>
                </a:solidFill>
                <a:latin typeface="Lato"/>
              </a:rPr>
              <a:t>Testing Integral: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Tests unitarios e integración pasando en verde en los pipelines.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7487" y="3750468"/>
            <a:ext cx="509111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8FAFC"/>
                </a:solidFill>
                <a:latin typeface="Lato"/>
              </a:rPr>
              <a:t>Ambiente Staging: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Despliegue continuo en entorno de pruebas antes de producción.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7487" y="4331493"/>
            <a:ext cx="5091112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F8FAFC"/>
                </a:solidFill>
                <a:latin typeface="Lato"/>
              </a:rPr>
              <a:t>Validación QA &amp; PO:</a:t>
            </a:r>
            <a:r>
              <a:rPr b="0" sz="1125" i="0" u="none">
                <a:solidFill>
                  <a:srgbClr val="CBD5E1"/>
                </a:solidFill>
                <a:latin typeface="Lato"/>
              </a:rPr>
              <a:t> Visto bueno formal de aseguramiento de calidad y aceptación de Alloxentric.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2687" y="2826543"/>
            <a:ext cx="219075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2687" y="3407568"/>
            <a:ext cx="17145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2687" y="3774281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2687" y="4355306"/>
            <a:ext cx="219075" cy="1809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14400" y="438150"/>
            <a:ext cx="112776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Metodología Scrum &amp; DoD Exigente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33625"/>
            <a:ext cx="11125200" cy="304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3300" y="342900"/>
            <a:ext cx="542925" cy="361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47687"/>
            <a:ext cx="238125" cy="2667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2925" y="2343150"/>
          <a:ext cx="11106148" cy="3028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76537"/>
                <a:gridCol w="6108352"/>
                <a:gridCol w="2221259"/>
              </a:tblGrid>
              <a:tr h="432707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Sprint &amp; Semanas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Foco de Desarrollo (Módulo Runner / Backend)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Entregable Clave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23B"/>
                    </a:solidFill>
                  </a:tcPr>
                </a:tc>
              </a:tr>
              <a:tr h="43270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Sprint 1</a:t>
                      </a:r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 (Sem 1-2)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Autenticación JWT completa, modelos PostgreSQL, rate limit en Redis y esquemas JSON base.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API Auth + Contratos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270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Sprint 2</a:t>
                      </a:r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 (Sem 3-4)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Estructuración del Vulnerability Hub y endpoints de categorización de riesgos.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Gestión de Hallazgos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270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Sprint 3</a:t>
                      </a:r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 (Sem 5-6)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Core del Runner: Integración CLI de herramientas y jobs asíncronos en RabbitMQ.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Motor de Pentesting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270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Sprint 4</a:t>
                      </a:r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 (Sem 7-8)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Backend para Patch Management y algoritmos de asignación de remediaciones.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Módulo de Parcheo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2707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Sprint 5</a:t>
                      </a:r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 (Sem 9-10)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Servicio de generación de reportes técnicos/ejecutivos y métricas de carga de equipo.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Módulo de Reportes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32708"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Sprint 6</a:t>
                      </a:r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 (Sem 11-12)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Pruebas de estrés, auditoría de cobertura &gt;80%, manuales y pase a producción.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CBD5E1"/>
                          </a:solidFill>
                          <a:latin typeface="Lato"/>
                        </a:rPr>
                        <a:t>Release Candidato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2925" y="2767012"/>
            <a:ext cx="277653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19462" y="2767012"/>
            <a:ext cx="6108352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27815" y="2767012"/>
            <a:ext cx="222125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3200400"/>
            <a:ext cx="2776537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9462" y="3200400"/>
            <a:ext cx="6108352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27815" y="3200400"/>
            <a:ext cx="2221259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2925" y="3633787"/>
            <a:ext cx="2776537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462" y="3633787"/>
            <a:ext cx="6108352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27815" y="3633787"/>
            <a:ext cx="2221259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2925" y="4067175"/>
            <a:ext cx="2776537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9462" y="4067175"/>
            <a:ext cx="6108352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27815" y="4067175"/>
            <a:ext cx="2221259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2925" y="4500562"/>
            <a:ext cx="2776537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9462" y="4500562"/>
            <a:ext cx="6108352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27815" y="4500562"/>
            <a:ext cx="2221259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925" y="4933950"/>
            <a:ext cx="2776537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9462" y="4933950"/>
            <a:ext cx="6108352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27815" y="4933950"/>
            <a:ext cx="2221259" cy="9525"/>
          </a:xfrm>
          <a:prstGeom prst="rect">
            <a:avLst/>
          </a:prstGeom>
          <a:solidFill>
            <a:srgbClr val="1A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2886075"/>
            <a:ext cx="685800" cy="214312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3319462"/>
            <a:ext cx="685800" cy="214312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752850"/>
            <a:ext cx="685800" cy="214312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4186237"/>
            <a:ext cx="685800" cy="214312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4375" y="4619625"/>
            <a:ext cx="685800" cy="214312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4375" y="5053012"/>
            <a:ext cx="685800" cy="2143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85825" y="438150"/>
            <a:ext cx="113061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Plan de Sprints (12 Semanas)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95575"/>
            <a:ext cx="5395912" cy="2324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95575"/>
            <a:ext cx="5395912" cy="2324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3300" y="342900"/>
            <a:ext cx="542925" cy="361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47687"/>
            <a:ext cx="20002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3950" y="2971800"/>
            <a:ext cx="4755594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oppins SemiBold"/>
              </a:rPr>
              <a:t>Evidencias Tangibles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371850"/>
            <a:ext cx="48434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Repositorio y CI/CD: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Historial de Pull Requests aprobados por pares y ejecución de pipelines.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829050"/>
            <a:ext cx="48434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Reportes de Cobertura: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Métricas automatizadas certificando el cumplimiento del 80%+ en tests.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286250"/>
            <a:ext cx="48434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•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Trazabilidad de Logs: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 Peticiones HTTP y ejecución exitosa de herramientas con outputs JSON.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5612" y="2971800"/>
            <a:ext cx="48056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38BDF8"/>
                </a:solidFill>
                <a:latin typeface="Poppins SemiBold"/>
              </a:rPr>
              <a:t>Valor del Proyecto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8912" y="3371850"/>
            <a:ext cx="48434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Dani-ETH transforma herramientas dispersas en una solución de ciberseguridad continua y escalable.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8912" y="3829050"/>
            <a:ext cx="48434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Permite al equipo consolidar competencias avanzadas en </a:t>
            </a:r>
            <a:r>
              <a:rPr b="1" sz="1200" i="0" u="none">
                <a:solidFill>
                  <a:srgbClr val="CBD5E1"/>
                </a:solidFill>
                <a:latin typeface="Lato"/>
              </a:rPr>
              <a:t>arquitectura de software, DevSecOps y pruebas automatizadas</a:t>
            </a:r>
            <a:r>
              <a:rPr b="0" sz="1200" i="0" u="none">
                <a:solidFill>
                  <a:srgbClr val="CBD5E1"/>
                </a:solidFill>
                <a:latin typeface="Lato"/>
              </a:rPr>
              <a:t>, alineándose de forma directa con el perfil de egreso de Duoc UC.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019425"/>
            <a:ext cx="2190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912" y="3019425"/>
            <a:ext cx="17145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7725" y="438150"/>
            <a:ext cx="11344275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Evidencias de Logro y Conclusión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062" y="4062412"/>
            <a:ext cx="1990725" cy="409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287" y="4062412"/>
            <a:ext cx="2076450" cy="409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237" y="4062412"/>
            <a:ext cx="2171700" cy="409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63300" y="342900"/>
            <a:ext cx="542925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6700" y="2386012"/>
            <a:ext cx="1165860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4800" i="0" u="none">
                <a:solidFill>
                  <a:srgbClr val="F8FAFC"/>
                </a:solidFill>
                <a:latin typeface="Poppins SemiBold"/>
              </a:rPr>
              <a:t>¿Preguntas o Comentarios?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43287"/>
            <a:ext cx="11125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Lato"/>
              </a:rPr>
              <a:t>Agradecemos su atención y retroalimentación.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4187" y="4205287"/>
            <a:ext cx="1714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5412" y="4205287"/>
            <a:ext cx="15240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2362" y="4205287"/>
            <a:ext cx="1714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52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619500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8775" y="3533775"/>
            <a:ext cx="100298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CBD5E1"/>
                </a:solidFill>
                <a:latin typeface="Lato"/>
              </a:rPr>
              <a:t>https://elements-resized.envatousercontent.com/elements-video-cover-images/fb5547fe-3125-4783-bfa0-93fa84498fac/video_preview/video_preview_0000.jpg?w=500&amp;cf_fit=cover&amp;q=85&amp;format=auto&amp;s=fb56784604c435d1f590155334580e82fab45b8e1e63fe449122aaa27f19820b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28775" y="3952875"/>
            <a:ext cx="1002982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CBD5E1"/>
                </a:solidFill>
                <a:latin typeface="Lato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Lato"/>
              </a:rPr>
              <a:t>elements.envato.com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438150"/>
            <a:ext cx="11658600" cy="5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550" i="0" u="none">
                <a:solidFill>
                  <a:srgbClr val="F8FAFC"/>
                </a:solidFill>
                <a:latin typeface="Poppins"/>
              </a:rPr>
              <a:t>Image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103822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